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9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Category-wise Net Profit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Profit (₹)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144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144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1443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1443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1443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Electronics</c:v>
                  </c:pt>
                  <c:pt idx="1">
                    <c:v>Beauty</c:v>
                  </c:pt>
                  <c:pt idx="2">
                    <c:v>Grocery</c:v>
                  </c:pt>
                  <c:pt idx="3">
                    <c:v>Fashion</c:v>
                  </c:pt>
                  <c:pt idx="4">
                    <c:v>Home &amp; Kitchen</c:v>
                  </c:pt>
                  <c:pt idx="5">
                    <c:v>Sports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11898.39</c:v>
                </c:pt>
                <c:pt idx="1">
                  <c:v>-1713.02</c:v>
                </c:pt>
                <c:pt idx="2">
                  <c:v>-16033.17</c:v>
                </c:pt>
                <c:pt idx="3">
                  <c:v>-19624.09</c:v>
                </c:pt>
                <c:pt idx="4">
                  <c:v>-68397.34</c:v>
                </c:pt>
                <c:pt idx="5">
                  <c:v>-72157.21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Sales Share by Payment Method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5FBDB0"/>
              </a:solidFill>
              <a:effectLst/>
            </c:spPr>
          </c:dPt>
          <c:dPt>
            <c:idx val="3"/>
            <c:bubble3D val="0"/>
            <c:spPr>
              <a:solidFill>
                <a:srgbClr val="F2A649"/>
              </a:solidFill>
              <a:effectLst/>
            </c:spPr>
          </c:dPt>
          <c:dPt>
            <c:idx val="4"/>
            <c:bubble3D val="0"/>
            <c:spPr>
              <a:solidFill>
                <a:srgbClr val="6D4C9F"/>
              </a:solidFill>
              <a:effectLst/>
            </c:spPr>
          </c:dPt>
          <c:dPt>
            <c:idx val="5"/>
            <c:bubble3D val="0"/>
            <c:spPr>
              <a:solidFill>
                <a:srgbClr val="8FA6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UPI</c:v>
                </c:pt>
                <c:pt idx="1">
                  <c:v>Debit Card</c:v>
                </c:pt>
                <c:pt idx="2">
                  <c:v>Cash on Delivery</c:v>
                </c:pt>
                <c:pt idx="3">
                  <c:v>Credit Card</c:v>
                </c:pt>
                <c:pt idx="4">
                  <c:v>Wallet</c:v>
                </c:pt>
                <c:pt idx="5">
                  <c:v>Net Banking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1060628.5</c:v>
                </c:pt>
                <c:pt idx="1">
                  <c:v>563591.05</c:v>
                </c:pt>
                <c:pt idx="2">
                  <c:v>545405.31</c:v>
                </c:pt>
                <c:pt idx="3">
                  <c:v>516505.22</c:v>
                </c:pt>
                <c:pt idx="4">
                  <c:v>330428.02</c:v>
                </c:pt>
                <c:pt idx="5">
                  <c:v>225025.72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Average Profit per Order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Profit per Order (₹)</c:v>
                </c:pt>
              </c:strCache>
            </c:strRef>
          </c:tx>
          <c:spPr>
            <a:solidFill>
              <a:srgbClr val="C144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144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9E6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Discounted</c:v>
                  </c:pt>
                  <c:pt idx="1">
                    <c:v>Non-Discounted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-527.34</c:v>
                </c:pt>
                <c:pt idx="1">
                  <c:v>142.55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50" b="0" i="0" u="none" strike="noStrike">
                <a:solidFill>
                  <a:srgbClr val="1E293B"/>
                </a:solidFill>
                <a:latin typeface="Arial"/>
              </a:rPr>
              <a:t>Revenue Lost by Return Reason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Lost (₹)</c:v>
                </c:pt>
              </c:strCache>
            </c:strRef>
          </c:tx>
          <c:spPr>
            <a:solidFill>
              <a:srgbClr val="F2A6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Changed Mind</c:v>
                  </c:pt>
                  <c:pt idx="1">
                    <c:v>Quality Issue</c:v>
                  </c:pt>
                  <c:pt idx="2">
                    <c:v>Late Delivery</c:v>
                  </c:pt>
                  <c:pt idx="3">
                    <c:v>Size/Fit Issue</c:v>
                  </c:pt>
                  <c:pt idx="4">
                    <c:v>Wrong Item Delivered</c:v>
                  </c:pt>
                  <c:pt idx="5">
                    <c:v>Damaged Product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97988.86</c:v>
                </c:pt>
                <c:pt idx="1">
                  <c:v>67467.38</c:v>
                </c:pt>
                <c:pt idx="2">
                  <c:v>60143.63</c:v>
                </c:pt>
                <c:pt idx="3">
                  <c:v>57714.22</c:v>
                </c:pt>
                <c:pt idx="4">
                  <c:v>55425.22</c:v>
                </c:pt>
                <c:pt idx="5">
                  <c:v>31662.17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Payment Gateway Fee by Method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Payment Fee (₹)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Credit Card</c:v>
                  </c:pt>
                  <c:pt idx="1">
                    <c:v>Debit Card</c:v>
                  </c:pt>
                  <c:pt idx="2">
                    <c:v>UPI</c:v>
                  </c:pt>
                  <c:pt idx="3">
                    <c:v>Wallet</c:v>
                  </c:pt>
                  <c:pt idx="4">
                    <c:v>Net Banking</c:v>
                  </c:pt>
                  <c:pt idx="5">
                    <c:v>Cash on Delivery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9297.08</c:v>
                </c:pt>
                <c:pt idx="1">
                  <c:v>6763.05</c:v>
                </c:pt>
                <c:pt idx="2">
                  <c:v>4242.35</c:v>
                </c:pt>
                <c:pt idx="3">
                  <c:v>2973.85</c:v>
                </c:pt>
                <c:pt idx="4">
                  <c:v>2250.3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Share of Total Revenue Leakage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Leakage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A649"/>
              </a:solidFill>
              <a:effectLst/>
            </c:spPr>
          </c:dPt>
          <c:dPt>
            <c:idx val="1"/>
            <c:bubble3D val="0"/>
            <c:spPr>
              <a:solidFill>
                <a:srgbClr val="C1443C"/>
              </a:solidFill>
              <a:effectLst/>
            </c:spPr>
          </c:dPt>
          <c:dPt>
            <c:idx val="2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bubble3D val="0"/>
            <c:spPr>
              <a:solidFill>
                <a:srgbClr val="6D4C9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Discounts</c:v>
                </c:pt>
                <c:pt idx="1">
                  <c:v>Returns</c:v>
                </c:pt>
                <c:pt idx="2">
                  <c:v>Logistics</c:v>
                </c:pt>
                <c:pt idx="3">
                  <c:v>Payment Fees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247441.35</c:v>
                </c:pt>
                <c:pt idx="1">
                  <c:v>370401.48</c:v>
                </c:pt>
                <c:pt idx="2">
                  <c:v>263713.82</c:v>
                </c:pt>
                <c:pt idx="3">
                  <c:v>25526.63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(₹)</c:v>
                </c:pt>
              </c:strCache>
            </c:strRef>
          </c:tx>
          <c:spPr>
            <a:solidFill>
              <a:srgbClr val="2E9E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Electronics 001</c:v>
                  </c:pt>
                  <c:pt idx="1">
                    <c:v>Electronics 009</c:v>
                  </c:pt>
                  <c:pt idx="2">
                    <c:v>Electronics 035</c:v>
                  </c:pt>
                  <c:pt idx="3">
                    <c:v>Home 006</c:v>
                  </c:pt>
                  <c:pt idx="4">
                    <c:v>Beauty 003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12038.85</c:v>
                </c:pt>
                <c:pt idx="1">
                  <c:v>11678.73</c:v>
                </c:pt>
                <c:pt idx="2">
                  <c:v>10612.04</c:v>
                </c:pt>
                <c:pt idx="3">
                  <c:v>3931.38</c:v>
                </c:pt>
                <c:pt idx="4">
                  <c:v>3775.89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(₹)</c:v>
                </c:pt>
              </c:strCache>
            </c:strRef>
          </c:tx>
          <c:spPr>
            <a:solidFill>
              <a:srgbClr val="C144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Home 007</c:v>
                  </c:pt>
                  <c:pt idx="1">
                    <c:v>Sports 020</c:v>
                  </c:pt>
                  <c:pt idx="2">
                    <c:v>Home 041</c:v>
                  </c:pt>
                  <c:pt idx="3">
                    <c:v>Sports 011</c:v>
                  </c:pt>
                  <c:pt idx="4">
                    <c:v>Home 019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-23722.92</c:v>
                </c:pt>
                <c:pt idx="1">
                  <c:v>-19836.75</c:v>
                </c:pt>
                <c:pt idx="2">
                  <c:v>-19599.52</c:v>
                </c:pt>
                <c:pt idx="3">
                  <c:v>-15476.37</c:v>
                </c:pt>
                <c:pt idx="4">
                  <c:v>-12271.06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50" b="0" i="0" u="none" strike="noStrike">
                <a:solidFill>
                  <a:srgbClr val="1E293B"/>
                </a:solidFill>
                <a:latin typeface="Arial"/>
              </a:rPr>
              <a:t>Margin Volatility by Category (Std. Dev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Std. Deviation (%)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Grocery</c:v>
                  </c:pt>
                  <c:pt idx="1">
                    <c:v>Fashion</c:v>
                  </c:pt>
                  <c:pt idx="2">
                    <c:v>Home &amp; Kitchen</c:v>
                  </c:pt>
                  <c:pt idx="3">
                    <c:v>Sports</c:v>
                  </c:pt>
                  <c:pt idx="4">
                    <c:v>Beauty</c:v>
                  </c:pt>
                  <c:pt idx="5">
                    <c:v>Electronics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42.35</c:v>
                </c:pt>
                <c:pt idx="1">
                  <c:v>41.82</c:v>
                </c:pt>
                <c:pt idx="2">
                  <c:v>40.6</c:v>
                </c:pt>
                <c:pt idx="3">
                  <c:v>39.79</c:v>
                </c:pt>
                <c:pt idx="4">
                  <c:v>37.02</c:v>
                </c:pt>
                <c:pt idx="5">
                  <c:v>34.48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1013155"/>
            <a:ext cx="625450" cy="625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× HCL  |  Business Analytics &amp; Digital Marketing Capstone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37744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Revenue Leakage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Gap Analysis using SQL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sales look healthy while profits quietly disappear?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SQL investigation into discounts, returns, logistics and payment-fee leakage.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5212080"/>
            <a:ext cx="758952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394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Maheswary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5715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&amp; Marketplace Analytics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are rising. Profit isn't following.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12648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marketplaces often show </a:t>
            </a:r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revenue but declining profit.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gap is rarely visible in top-line sales dashboards — it hides inside four cost layers: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68680" y="3246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330098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3246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discounts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39044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95935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9044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return rates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68680" y="456285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61772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56285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logistics costs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868680" y="522122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5276088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522122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fees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6949440" y="1417320"/>
            <a:ext cx="4663440" cy="4480560"/>
          </a:xfrm>
          <a:prstGeom prst="roundRect">
            <a:avLst>
              <a:gd name="adj" fmla="val 1224"/>
            </a:avLst>
          </a:prstGeom>
          <a:solidFill>
            <a:srgbClr val="065A82"/>
          </a:solidFill>
          <a:ln/>
        </p:spPr>
      </p:sp>
      <p:sp>
        <p:nvSpPr>
          <p:cNvPr id="19" name="Shape 13"/>
          <p:cNvSpPr/>
          <p:nvPr/>
        </p:nvSpPr>
        <p:spPr>
          <a:xfrm>
            <a:off x="7315200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1037" y="1803197"/>
            <a:ext cx="416966" cy="41696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001000" y="17373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7315200" y="2468880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analyze a relational marketplace database capturing: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orders &amp; customers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applied per order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&amp; return reasons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&amp; reverse logistics cost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fees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7315200" y="470916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use SQL to uncover leakage points, quantify profitability gaps, and support data-driven decisions.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GUVI × HCL BADM Capstone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Use Cases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lenses used to investigate the revenue-to-profit gap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5204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310" y="1843430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231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 Detection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85292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value lost to discounts, returns, logistics &amp; fees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34840" y="1554480"/>
            <a:ext cx="35204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790" y="1843430"/>
            <a:ext cx="382219" cy="382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4231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Profitability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63440" y="285292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profit-makers from silent loss-makers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75320" y="1554480"/>
            <a:ext cx="35204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03920" y="1783080"/>
            <a:ext cx="502920" cy="502920"/>
          </a:xfrm>
          <a:prstGeom prst="ellipse">
            <a:avLst/>
          </a:prstGeom>
          <a:solidFill>
            <a:srgbClr val="5FBDB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270" y="1843430"/>
            <a:ext cx="382219" cy="3822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24231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Cost Analysis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503920" y="285292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logistics &amp; reverse-logistics drag on margin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94360" y="3931920"/>
            <a:ext cx="35204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" y="4220870"/>
            <a:ext cx="382219" cy="3822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48006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Effectiveness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22960" y="523036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discounts truly grow profit or just volume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34840" y="3931920"/>
            <a:ext cx="35204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9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3440" y="4160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3790" y="4220870"/>
            <a:ext cx="382219" cy="3822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63440" y="48006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Impact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63440" y="523036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hidden gateway-fee cost by payment mode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75320" y="3931920"/>
            <a:ext cx="35204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9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03920" y="4160520"/>
            <a:ext cx="502920" cy="502920"/>
          </a:xfrm>
          <a:prstGeom prst="ellipse">
            <a:avLst/>
          </a:prstGeom>
          <a:solidFill>
            <a:srgbClr val="5FBDB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4270" y="4220870"/>
            <a:ext cx="382219" cy="38221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03920" y="48006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Decision Support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503920" y="523036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pricing &amp; ops recommendations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GUVI × HCL BADM Capstone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— Entity Relationship Diagram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relational tables built around the order lifecycle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214884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554480"/>
            <a:ext cx="2148840" cy="36576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737360"/>
            <a:ext cx="2148840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544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5488" y="1993392"/>
            <a:ext cx="192938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product_id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product_name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cost_price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selling_price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80360" y="1371600"/>
            <a:ext cx="2286000" cy="2331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80360" y="137160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2880360" y="1554480"/>
            <a:ext cx="2286000" cy="182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90088" y="1810512"/>
            <a:ext cx="20665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order_id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customer_id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product_id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order_value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cost_value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77840" y="777240"/>
            <a:ext cx="21488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5FBDB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7840" y="777240"/>
            <a:ext cx="2148840" cy="365760"/>
          </a:xfrm>
          <a:prstGeom prst="roundRect">
            <a:avLst>
              <a:gd name="adj" fmla="val 12500"/>
            </a:avLst>
          </a:prstGeom>
          <a:solidFill>
            <a:srgbClr val="5FBDB0"/>
          </a:solidFill>
          <a:ln/>
        </p:spPr>
      </p:sp>
      <p:sp>
        <p:nvSpPr>
          <p:cNvPr id="16" name="Shape 14"/>
          <p:cNvSpPr/>
          <p:nvPr/>
        </p:nvSpPr>
        <p:spPr>
          <a:xfrm>
            <a:off x="5577840" y="960120"/>
            <a:ext cx="2148840" cy="182880"/>
          </a:xfrm>
          <a:prstGeom prst="rect">
            <a:avLst/>
          </a:prstGeom>
          <a:solidFill>
            <a:srgbClr val="5FBDB0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7772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87568" y="1216152"/>
            <a:ext cx="19293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order_id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discount_amount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discount_pct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77840" y="2194560"/>
            <a:ext cx="214884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F2A64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77840" y="2194560"/>
            <a:ext cx="2148840" cy="365760"/>
          </a:xfrm>
          <a:prstGeom prst="roundRect">
            <a:avLst>
              <a:gd name="adj" fmla="val 12500"/>
            </a:avLst>
          </a:prstGeom>
          <a:solidFill>
            <a:srgbClr val="F2A649"/>
          </a:solidFill>
          <a:ln/>
        </p:spPr>
      </p:sp>
      <p:sp>
        <p:nvSpPr>
          <p:cNvPr id="21" name="Shape 19"/>
          <p:cNvSpPr/>
          <p:nvPr/>
        </p:nvSpPr>
        <p:spPr>
          <a:xfrm>
            <a:off x="5577840" y="2377440"/>
            <a:ext cx="2148840" cy="182880"/>
          </a:xfrm>
          <a:prstGeom prst="rect">
            <a:avLst/>
          </a:prstGeom>
          <a:solidFill>
            <a:srgbClr val="F2A649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0" y="21945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87568" y="2633472"/>
            <a:ext cx="19293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order_id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return_reason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77840" y="3566160"/>
            <a:ext cx="21488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1443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77840" y="3566160"/>
            <a:ext cx="2148840" cy="365760"/>
          </a:xfrm>
          <a:prstGeom prst="roundRect">
            <a:avLst>
              <a:gd name="adj" fmla="val 12500"/>
            </a:avLst>
          </a:prstGeom>
          <a:solidFill>
            <a:srgbClr val="C1443C"/>
          </a:solidFill>
          <a:ln/>
        </p:spPr>
      </p:sp>
      <p:sp>
        <p:nvSpPr>
          <p:cNvPr id="26" name="Shape 24"/>
          <p:cNvSpPr/>
          <p:nvPr/>
        </p:nvSpPr>
        <p:spPr>
          <a:xfrm>
            <a:off x="5577840" y="3749040"/>
            <a:ext cx="2148840" cy="182880"/>
          </a:xfrm>
          <a:prstGeom prst="rect">
            <a:avLst/>
          </a:prstGeom>
          <a:solidFill>
            <a:srgbClr val="C1443C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0" y="35661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logistics_cost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687568" y="4005072"/>
            <a:ext cx="19293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order_id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shipping_cost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reverse_shipping_cost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880360" y="3931920"/>
            <a:ext cx="22860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6D4C9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880360" y="393192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6D4C9F"/>
          </a:solidFill>
          <a:ln/>
        </p:spPr>
      </p:sp>
      <p:sp>
        <p:nvSpPr>
          <p:cNvPr id="31" name="Shape 29"/>
          <p:cNvSpPr/>
          <p:nvPr/>
        </p:nvSpPr>
        <p:spPr>
          <a:xfrm>
            <a:off x="2880360" y="4114800"/>
            <a:ext cx="2286000" cy="182880"/>
          </a:xfrm>
          <a:prstGeom prst="rect">
            <a:avLst/>
          </a:prstGeom>
          <a:solidFill>
            <a:srgbClr val="6D4C9F"/>
          </a:solidFill>
          <a:ln/>
        </p:spPr>
      </p:sp>
      <p:sp>
        <p:nvSpPr>
          <p:cNvPr id="32" name="Text 30"/>
          <p:cNvSpPr/>
          <p:nvPr/>
        </p:nvSpPr>
        <p:spPr>
          <a:xfrm>
            <a:off x="288036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payment_fees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990088" y="4370832"/>
            <a:ext cx="20665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payment_method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fee_percentage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14600" y="2377440"/>
            <a:ext cx="365760" cy="0"/>
          </a:xfrm>
          <a:prstGeom prst="line">
            <a:avLst/>
          </a:prstGeom>
          <a:noFill/>
          <a:ln w="19050">
            <a:solidFill>
              <a:srgbClr val="5A6B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66360" y="1371600"/>
            <a:ext cx="411480" cy="548640"/>
          </a:xfrm>
          <a:prstGeom prst="line">
            <a:avLst/>
          </a:prstGeom>
          <a:noFill/>
          <a:ln w="19050">
            <a:solidFill>
              <a:srgbClr val="5A6B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66360" y="2514600"/>
            <a:ext cx="411480" cy="228600"/>
          </a:xfrm>
          <a:prstGeom prst="line">
            <a:avLst/>
          </a:prstGeom>
          <a:noFill/>
          <a:ln w="19050">
            <a:solidFill>
              <a:srgbClr val="5A6B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66360" y="2651760"/>
            <a:ext cx="411480" cy="1463040"/>
          </a:xfrm>
          <a:prstGeom prst="line">
            <a:avLst/>
          </a:prstGeom>
          <a:noFill/>
          <a:ln w="19050">
            <a:solidFill>
              <a:srgbClr val="5A6B7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23360" y="3703320"/>
            <a:ext cx="0" cy="228600"/>
          </a:xfrm>
          <a:prstGeom prst="line">
            <a:avLst/>
          </a:prstGeom>
          <a:noFill/>
          <a:ln w="19050">
            <a:solidFill>
              <a:srgbClr val="5A6B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1965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A"/>
                </a:solidFill>
              </a:rPr>
              <a:t>1 : 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orders.product_id → products.product_id   |   discounts / returns / logistics_cost link 1:1 (or 1:0) to orders.product_id via order_id   |   payment_fees joins on payment_method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562356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562356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is the atomic grain that ties revenue (orders) to every leakage source (discounts, returns, logistics, payment fees) — enabling a single consolidated profitability view per order.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GUVI × HCL BADM Capstone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· Revenue vs Profit Reality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health check: is the business actually making money?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356616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Revenue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₹32.4L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950 orders, H1 2024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600200"/>
            <a:ext cx="3566160" cy="109728"/>
          </a:xfrm>
          <a:prstGeom prst="rect">
            <a:avLst/>
          </a:prstGeom>
          <a:solidFill>
            <a:srgbClr val="F2A64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+ Leakage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2860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6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₹30.4L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572000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 + discounts + logistics + fees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600200"/>
            <a:ext cx="3566160" cy="109728"/>
          </a:xfrm>
          <a:prstGeom prst="rect">
            <a:avLst/>
          </a:prstGeom>
          <a:solidFill>
            <a:srgbClr val="C1443C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1040" y="22860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-₹1.7L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321040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margin: -5.12%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11064240" cy="1737360"/>
          </a:xfrm>
          <a:prstGeom prst="roundRect">
            <a:avLst>
              <a:gd name="adj" fmla="val 3684"/>
            </a:avLst>
          </a:prstGeom>
          <a:solidFill>
            <a:srgbClr val="0B2A4A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279392"/>
            <a:ext cx="685800" cy="685800"/>
          </a:xfrm>
          <a:prstGeom prst="ellipse">
            <a:avLst/>
          </a:prstGeom>
          <a:solidFill>
            <a:srgbClr val="C1443C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4361688"/>
            <a:ext cx="521208" cy="52120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783080" y="4160520"/>
            <a:ext cx="9509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revenue looks strong at 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₹32.4L,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marketplace is running at a 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loss of ₹1.7L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once discounts, returns, logistics and payment fees are accounted for — a 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-5.12% net margin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This confirms hidden costs, not weak sales, are the real problem.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GUVI × HCL BADM Capstone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&amp; 3 · Category Profitability &amp; Loss-Making Products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 and SKUs are quietly draining money?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8521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62940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Loss-Making Products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783080"/>
          <a:ext cx="49377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188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Item 007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&amp; Kitchen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-₹23,723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 Item 020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-₹19,837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Item 041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&amp; Kitchen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-₹19,600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 Item 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-₹15,476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Item 019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&amp; Kitchen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-₹12,271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629400" y="4160520"/>
            <a:ext cx="49377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858000" y="429768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Electronics is net profitable. Sports and Home &amp; Kitchen post the deepest losses — driven by a handful of SKUs (P0007, P0020, P0041) losing money on nearly every order.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GUVI × HCL BADM Capstone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4 &amp; 5 · Discount Usage &amp; Payment Method Popularity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aggressively are discounts used, and how do customers pay?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212080" cy="1965960"/>
          </a:xfrm>
          <a:prstGeom prst="roundRect">
            <a:avLst>
              <a:gd name="adj" fmla="val 3256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47.37%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orders carried a discount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0" y="173736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₹2.5L</a:t>
            </a:r>
            <a:endParaRPr lang="en-US" sz="1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discount value given</a:t>
            </a:r>
            <a:endParaRPr lang="en-US" sz="1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(450 of 950 orders)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989320" y="1371600"/>
          <a:ext cx="55778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65760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" y="37947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of all orders are discounted — this is frequent, not occasional, usage. Combined with UPI's dominance (36% of orders), discount dependency and low-fee-but-high-volume payment behavior both need scrutiny.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GUVI × HCL BADM Capstone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6 · Discount vs Profit Gap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discounts actually help profitability — or just move volume?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5760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37960" y="1508760"/>
            <a:ext cx="51206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1228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Orders — Avg Profit/Order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12280" y="1965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-₹527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1228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orders · avg order value ₹3,359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537960" y="3154680"/>
            <a:ext cx="51206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1228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Non-Discounted Orders — Avg Profit/Order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12280" y="3611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₹143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81228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orders · avg order value ₹3,460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537960" y="4800600"/>
            <a:ext cx="5120640" cy="1051560"/>
          </a:xfrm>
          <a:prstGeom prst="roundRect">
            <a:avLst>
              <a:gd name="adj" fmla="val 5217"/>
            </a:avLst>
          </a:prstGeom>
          <a:solidFill>
            <a:srgbClr val="0B2A4A"/>
          </a:solidFill>
          <a:ln/>
        </p:spPr>
      </p:sp>
      <p:sp>
        <p:nvSpPr>
          <p:cNvPr id="14" name="Text 11"/>
          <p:cNvSpPr/>
          <p:nvPr/>
        </p:nvSpPr>
        <p:spPr>
          <a:xfrm>
            <a:off x="6766560" y="48920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orders lose money on average, while non-discounted orders are profitable. Discounts are driving volume, not profit.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GUVI × HCL BADM Capstone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7 &amp; 8 · Return Impact &amp; Return Reasons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the financial damage caused by returns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727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Orders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154680" y="1463040"/>
            <a:ext cx="25603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5727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83280" y="19202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₹3.7L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852160" y="1463040"/>
            <a:ext cx="25603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5727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Impact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80760" y="19202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-₹3.8L</a:t>
            </a:r>
            <a:endParaRPr lang="en-US" sz="2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8595360" y="1417320"/>
          <a:ext cx="30632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3063240"/>
            <a:ext cx="790956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580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Return Reasons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7240" y="3566160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Mind — 30 returns, ₹97,989 lost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Issue — 24 returns, ₹67,467 lost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— 18 returns, ₹60,144 lost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Size/Fit Issue — 27 returns, ₹57,714 lost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GUVI × HCL BADM Capstone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9 &amp; 10 · Logistics Burden &amp; Payment Fee Leakage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fulfilment and payment costs quietly erode margin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120640" cy="3520440"/>
          </a:xfrm>
          <a:prstGeom prst="roundRect">
            <a:avLst>
              <a:gd name="adj" fmla="val 1818"/>
            </a:avLst>
          </a:prstGeom>
          <a:solidFill>
            <a:srgbClr val="0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19656"/>
            <a:ext cx="521208" cy="521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Cost Burden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2A6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777240" y="352044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(9.68% of all orders)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logistics cost &gt; 20% of order value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434340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typically low-value orders (avg ₹510) where flat shipping costs disproportionately erode margin — candidates for a minimum order value or delivery fee.</a:t>
            </a:r>
            <a:endParaRPr lang="en-US" sz="11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806440" y="1463040"/>
          <a:ext cx="58521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/>
          <p:nvPr/>
        </p:nvSpPr>
        <p:spPr>
          <a:xfrm>
            <a:off x="5806440" y="507492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carries the highest total gateway fee (₹9.3K) despite fewer orders than UPI — its 1.8% fee rate outweighs volume advantages of cheaper methods.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GUVI × HCL BADM Capstone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11 · Revenue Leakage Breakdown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diagnosis — where does profit go?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5577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463040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83680" y="1664208"/>
            <a:ext cx="457200" cy="457200"/>
          </a:xfrm>
          <a:prstGeom prst="ellipse">
            <a:avLst/>
          </a:prstGeom>
          <a:solidFill>
            <a:srgbClr val="C1443C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0" y="1664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22376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509760" y="15544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₹3.7L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0" y="2496312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697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23760" y="25877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509760" y="258775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₹2.6L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400800" y="3529584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83680" y="3730752"/>
            <a:ext cx="457200" cy="457200"/>
          </a:xfrm>
          <a:prstGeom prst="ellipse">
            <a:avLst/>
          </a:prstGeom>
          <a:solidFill>
            <a:srgbClr val="F2A649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0" y="3730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223760" y="36210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509760" y="3621024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2A6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₹2.5L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400800" y="4562856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83680" y="4764024"/>
            <a:ext cx="457200" cy="457200"/>
          </a:xfrm>
          <a:prstGeom prst="ellipse">
            <a:avLst/>
          </a:prstGeom>
          <a:solidFill>
            <a:srgbClr val="6D4C9F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0" y="4764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223760" y="465429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Fees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509760" y="4654296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D4C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₹0.3L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GUVI × HCL BADM Capstone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12 · Product Profit Ranking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set of products drives most of the profit — and the losses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Profit Contributors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74520"/>
          <a:ext cx="5486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463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Loss Contributors</a:t>
            </a:r>
            <a:endParaRPr lang="en-US" sz="15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1874520"/>
          <a:ext cx="5486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Electronics products alone contribute ₹34.3K profit — more than the entire portfolio's net result — while Home &amp; Sports SKUs offset those gains with steep losses.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GUVI × HCL BADM Capstone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13 &amp; 14 · Margin Stability &amp; High-Risk Customers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pricing inconsistent, and who drives excess returns?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8521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62940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Customers (return rate ≫ 13.5% avg)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874520"/>
          <a:ext cx="51206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109728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66.67%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C0174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66.67%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C0121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C0169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C0168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44.44%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629400" y="4251960"/>
            <a:ext cx="51206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858000" y="43891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and Fashion show the widest margin swings — a sign of inconsistent pricing or cost control. A handful of customers return 3-5x the marketplace average and warrant policy review.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GUVI × HCL BADM Capstone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15 · Executive Profitability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is profit lower than expected despite strong sales?”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783080" cy="2377440"/>
          </a:xfrm>
          <a:prstGeom prst="roundRect">
            <a:avLst>
              <a:gd name="adj" fmla="val 3077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BD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₹32.4L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68880" y="1600200"/>
            <a:ext cx="1783080" cy="2377440"/>
          </a:xfrm>
          <a:prstGeom prst="roundRect">
            <a:avLst>
              <a:gd name="adj" fmla="val 3077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7830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Discounts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560320" y="251460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6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-₹2.5L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89120" y="1600200"/>
            <a:ext cx="1783080" cy="2377440"/>
          </a:xfrm>
          <a:prstGeom prst="roundRect">
            <a:avLst>
              <a:gd name="adj" fmla="val 3077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7830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Loss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80560" y="251460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-₹3.7L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09360" y="1600200"/>
            <a:ext cx="1783080" cy="2377440"/>
          </a:xfrm>
          <a:prstGeom prst="roundRect">
            <a:avLst>
              <a:gd name="adj" fmla="val 3077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7830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Cost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0" y="251460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-₹2.6L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0" y="1600200"/>
            <a:ext cx="1783080" cy="2377440"/>
          </a:xfrm>
          <a:prstGeom prst="roundRect">
            <a:avLst>
              <a:gd name="adj" fmla="val 3077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7830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Fees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21040" y="251460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A6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-₹0.3L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149840" y="1600200"/>
            <a:ext cx="1783080" cy="2377440"/>
          </a:xfrm>
          <a:prstGeom prst="roundRect">
            <a:avLst>
              <a:gd name="adj" fmla="val 3077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41280" y="17830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241280" y="251460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-₹1.7L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11064240" cy="1965960"/>
          </a:xfrm>
          <a:prstGeom prst="roundRect">
            <a:avLst>
              <a:gd name="adj" fmla="val 3256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4348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 ₹100 in sales, the marketplace loses roughly ₹5 net — driven mainly by returns (11% of sales) and logistics (8% of sales), amplified by heavy, largely unprofitable discounting.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GUVI × HCL BADM Capstone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leakage diagnosis into action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751990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276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Rationalize discounts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71600" y="199339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or remove discounts on SKUs proven to lose money per order; reserve deep discounts for high-margin Electronics.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09360" y="150876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691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590" y="1751990"/>
            <a:ext cx="382219" cy="382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6276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top loss-making SKUs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132320" y="199339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Reprice or renegotiate supplier cost for P0007, P0020, P0041 — or delist if margins can't recover.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97180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154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70" y="3215030"/>
            <a:ext cx="382219" cy="3822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0906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return-driving reasons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371600" y="345643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packaging/QC for 'Damaged' &amp; 'Quality Issue' returns; tighten listings to cut 'Wrong Item' returns.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309360" y="297180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3154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590" y="3215030"/>
            <a:ext cx="382219" cy="3822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0906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minimum order value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132320" y="345643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MOV or delivery fee where logistics cost exceeds 20% of order value to protect margin on small orders.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43484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31520" y="4617720"/>
            <a:ext cx="502920" cy="502920"/>
          </a:xfrm>
          <a:prstGeom prst="ellipse">
            <a:avLst/>
          </a:prstGeom>
          <a:solidFill>
            <a:srgbClr val="5FBDB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870" y="4678070"/>
            <a:ext cx="382219" cy="3822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455371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 payment mix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371600" y="491947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UPI/COD where fee-to-volume ratio is favorable; review Credit Card fee absorption policy.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309360" y="443484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92240" y="4617720"/>
            <a:ext cx="502920" cy="502920"/>
          </a:xfrm>
          <a:prstGeom prst="ellipse">
            <a:avLst/>
          </a:prstGeom>
          <a:solidFill>
            <a:srgbClr val="5FBDB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2590" y="4678070"/>
            <a:ext cx="382219" cy="38221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455371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high-risk customers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132320" y="491947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stricter return policies or verification for customers with return rates 3x+ the marketplace average.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GUVI × HCL BADM Capstone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Marketplace Revenue Leakage &amp; Gap Analysis using SQL</dc:title>
  <dc:subject>PptxGenJS Presentation</dc:subject>
  <dc:creator>Maheswary</dc:creator>
  <cp:lastModifiedBy>Maheswary</cp:lastModifiedBy>
  <cp:revision>1</cp:revision>
  <dcterms:created xsi:type="dcterms:W3CDTF">2026-07-05T15:59:45Z</dcterms:created>
  <dcterms:modified xsi:type="dcterms:W3CDTF">2026-07-05T15:59:45Z</dcterms:modified>
</cp:coreProperties>
</file>